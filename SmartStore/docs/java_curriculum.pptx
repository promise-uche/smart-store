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PROGRAMMING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1463040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4-Week Curriculum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20116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 to Intermediate  |  Ages 16–30  |  ICT Training Academy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4114800" cy="36576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7" name="Shape 5"/>
          <p:cNvSpPr/>
          <p:nvPr/>
        </p:nvSpPr>
        <p:spPr>
          <a:xfrm>
            <a:off x="320040" y="2834640"/>
            <a:ext cx="201168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926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42900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Curriculum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2834640"/>
            <a:ext cx="201168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926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342900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892040" y="2834640"/>
            <a:ext cx="201168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9260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2040" y="342900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Inclusive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178040" y="2834640"/>
            <a:ext cx="201168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926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429000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Tech-Enhanced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by: </a:t>
            </a:r>
            <a:r>
              <a:rPr lang="en-US" sz="11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-- Promise Onyemaechi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4-WEEK CURRICULUM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77240"/>
            <a:ext cx="4297680" cy="1325880"/>
          </a:xfrm>
          <a:prstGeom prst="rect">
            <a:avLst/>
          </a:prstGeom>
          <a:solidFill>
            <a:srgbClr val="F0F6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777240"/>
            <a:ext cx="109728" cy="1325880"/>
          </a:xfrm>
          <a:prstGeom prst="rect">
            <a:avLst/>
          </a:prstGeom>
          <a:solidFill>
            <a:srgbClr val="1B6CA8"/>
          </a:solidFill>
        </p:spPr>
      </p:sp>
      <p:sp>
        <p:nvSpPr>
          <p:cNvPr id="6" name="Text 4"/>
          <p:cNvSpPr/>
          <p:nvPr/>
        </p:nvSpPr>
        <p:spPr>
          <a:xfrm>
            <a:off x="329184" y="84124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10515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Fundamentals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" y="13441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&amp; types · Operators · Control flow (if/switch/loops) · Methods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" y="17373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🏗️ Build a 'Personal Profile' console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97680" cy="1325880"/>
          </a:xfrm>
          <a:prstGeom prst="rect">
            <a:avLst/>
          </a:prstGeom>
          <a:solidFill>
            <a:srgbClr val="F0F6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109728" cy="132588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2" name="Text 10"/>
          <p:cNvSpPr/>
          <p:nvPr/>
        </p:nvSpPr>
        <p:spPr>
          <a:xfrm>
            <a:off x="4828032" y="84124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0515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Principles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1344168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 &amp; objects · Constructors · Inheritance · Polymorphism · this/super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1737360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🎮 Design a simple Animal Kingdom class hierarchy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" y="2212848"/>
            <a:ext cx="4297680" cy="1325880"/>
          </a:xfrm>
          <a:prstGeom prst="rect">
            <a:avLst/>
          </a:prstGeom>
          <a:solidFill>
            <a:srgbClr val="F0F6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2212848"/>
            <a:ext cx="109728" cy="132588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8" name="Text 16"/>
          <p:cNvSpPr/>
          <p:nvPr/>
        </p:nvSpPr>
        <p:spPr>
          <a:xfrm>
            <a:off x="329184" y="2276856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" y="248716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I/O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" y="2779776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ArrayList · HashMap · Scanner · File I/O · Exception handling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" y="317296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📖 Build a Student Grade Book with file persistence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212848"/>
            <a:ext cx="4297680" cy="1325880"/>
          </a:xfrm>
          <a:prstGeom prst="rect">
            <a:avLst/>
          </a:prstGeom>
          <a:solidFill>
            <a:srgbClr val="F0F6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212848"/>
            <a:ext cx="109728" cy="1325880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24" name="Text 22"/>
          <p:cNvSpPr/>
          <p:nvPr/>
        </p:nvSpPr>
        <p:spPr>
          <a:xfrm>
            <a:off x="4828032" y="2276856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248716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&amp; Deployment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28032" y="2779776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planning · Code review · Debugging · Git basics · Presentation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317296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Complete &amp; present Capstone Mini-Project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LESSON PLAN  —  Week 2, Day 1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Topic: OOP — Classes &amp; Objects  |  Duration: 75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777240"/>
            <a:ext cx="2834640" cy="4114800"/>
          </a:xfrm>
          <a:prstGeom prst="rect">
            <a:avLst/>
          </a:prstGeom>
          <a:solidFill>
            <a:srgbClr val="1A2744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Learning Objectives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615184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and instantiate a Java class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Distinguish instance vs. class variables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and invoke constructors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access modifiers (public/private)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Relate objects to real-world entities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834640" cy="4114800"/>
          </a:xfrm>
          <a:prstGeom prst="rect">
            <a:avLst/>
          </a:prstGeom>
          <a:solidFill>
            <a:srgbClr val="1A2744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841248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Lesson Flow (75 min)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1261872"/>
            <a:ext cx="2615184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0–10 min: Warm-up quiz (what is an object?)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10–25 min: Lecture + live coding demo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25–50 min: Pair programming exercise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50–65 min: Code walkthrough &amp; Q&amp;A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65–75 min: Exit ticket + preview Week 2 Day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777240"/>
            <a:ext cx="2834640" cy="4114800"/>
          </a:xfrm>
          <a:prstGeom prst="rect">
            <a:avLst/>
          </a:prstGeom>
          <a:solidFill>
            <a:srgbClr val="1A2744"/>
          </a:solidFill>
          <a:ln w="19050">
            <a:solidFill>
              <a:srgbClr val="2D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841248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Assessment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261872"/>
            <a:ext cx="2615184" cy="3383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Entry: 3-question Kahoot! quiz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Formative: Code review of pair exercise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ticket: Write a 'Car' class from scratch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Rubric: Correct syntax (40%), logic (40%), naming (20%)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Follow-up: Replit assignment due next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0A1A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DIVERSE LEARNERS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77240"/>
            <a:ext cx="4160520" cy="4160520"/>
          </a:xfrm>
          <a:prstGeom prst="rect">
            <a:avLst/>
          </a:prstGeom>
          <a:solidFill>
            <a:srgbClr val="F0F6FF"/>
          </a:solidFill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777240"/>
            <a:ext cx="4160520" cy="347472"/>
          </a:xfrm>
          <a:prstGeom prst="rect">
            <a:avLst/>
          </a:prstGeom>
          <a:solidFill>
            <a:srgbClr val="E76F51"/>
          </a:solidFill>
        </p:spPr>
      </p:sp>
      <p:sp>
        <p:nvSpPr>
          <p:cNvPr id="6" name="Text 4"/>
          <p:cNvSpPr/>
          <p:nvPr/>
        </p:nvSpPr>
        <p:spPr>
          <a:xfrm>
            <a:off x="256032" y="81381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🤝  Supporting Struggling Learners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Scaffolded Tasks: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problems into micro-steps; provide starter code templates.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 Pairing: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weaker learners with empathetic peers in structured buddy system.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78024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Hours: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706624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20-min one-on-one review sessions available on Zoom/in-person.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099816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Aids: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328416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flowcharts and UML diagrams before introducing code syntax.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721608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Low-Stakes Practice: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950208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Replit auto-graded exercises with unlimited retries — no shame in errors.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18888" y="777240"/>
            <a:ext cx="4160520" cy="4160520"/>
          </a:xfrm>
          <a:prstGeom prst="rect">
            <a:avLst/>
          </a:prstGeom>
          <a:solidFill>
            <a:srgbClr val="F0F6FF"/>
          </a:solidFill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777240"/>
            <a:ext cx="4160520" cy="347472"/>
          </a:xfrm>
          <a:prstGeom prst="rect">
            <a:avLst/>
          </a:prstGeom>
          <a:solidFill>
            <a:srgbClr val="1B6CA8"/>
          </a:solidFill>
        </p:spPr>
      </p:sp>
      <p:sp>
        <p:nvSpPr>
          <p:cNvPr id="19" name="Text 17"/>
          <p:cNvSpPr/>
          <p:nvPr/>
        </p:nvSpPr>
        <p:spPr>
          <a:xfrm>
            <a:off x="4910328" y="813816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 Challenging Advanced Students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74336" y="1234440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Challenges: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146304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 problems beyond the syllabus — algorithmic puzzles, LeetCode starters.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1856232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Near-Peer Teaching: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74336" y="2084832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students explain concepts to peers, deepening their own mastery.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74336" y="2478024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Mini-Projects: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74336" y="2706624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finishers build extended features: add file I/O, GUI, or API calls.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74336" y="3099816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Review Role: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3328416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Invited to critique sample code — develops critical thinking and standards.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4336" y="3721608"/>
            <a:ext cx="39319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Exposure: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74336" y="3950208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reading of GitHub repositories; contribute small fixes or docs.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TECH-ENHANCED TEACHING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77240"/>
            <a:ext cx="283464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777240"/>
            <a:ext cx="2834640" cy="29260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6" name="Text 4"/>
          <p:cNvSpPr/>
          <p:nvPr/>
        </p:nvSpPr>
        <p:spPr>
          <a:xfrm>
            <a:off x="210312" y="80467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PRIMARY CLASS TOOL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1115568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1463040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Coding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81051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202996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Zero-setup browser IDE — students code from any device instantly. Instructors share live coding sessions and create auto-graded assignments.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309067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IN CLASS: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331012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every session: students fork starter code, complete exercises, submit via link. Instructor uses 'Multiplayer' to debug live.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36392" y="777240"/>
            <a:ext cx="283464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777240"/>
            <a:ext cx="2834640" cy="292608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5" name="Text 13"/>
          <p:cNvSpPr/>
          <p:nvPr/>
        </p:nvSpPr>
        <p:spPr>
          <a:xfrm>
            <a:off x="3182112" y="80467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ENGAGEMENT 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7832" y="1115568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Kahoot!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27832" y="1463040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Gamified Quizzing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27832" y="181051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27832" y="202996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Competitive, real-time quizzes boost retention by up to 50%. Instant instructor dashboard reveals misconceptions before they compound.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27832" y="309067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IN CLASS: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27832" y="331012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5-min warm-up at every session start (5 Java concept Qs). Results guide lesson pace and which concepts need re-teaching.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8192" y="777240"/>
            <a:ext cx="2834640" cy="4206240"/>
          </a:xfrm>
          <a:prstGeom prst="rect">
            <a:avLst/>
          </a:prstGeom>
          <a:solidFill>
            <a:srgbClr val="0D1B2A"/>
          </a:solidFill>
          <a:ln w="19050">
            <a:solidFill>
              <a:srgbClr val="2D9E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777240"/>
            <a:ext cx="2834640" cy="292608"/>
          </a:xfrm>
          <a:prstGeom prst="rect">
            <a:avLst/>
          </a:prstGeom>
          <a:solidFill>
            <a:srgbClr val="2D9E6B"/>
          </a:solidFill>
        </p:spPr>
      </p:sp>
      <p:sp>
        <p:nvSpPr>
          <p:cNvPr id="24" name="Text 22"/>
          <p:cNvSpPr/>
          <p:nvPr/>
        </p:nvSpPr>
        <p:spPr>
          <a:xfrm>
            <a:off x="6153912" y="80467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CAREER BUILDER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9632" y="1115568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E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99632" y="1463040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 &amp; Portfolio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81051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202996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Industry-standard tool — learners build a real portfolio from Day 1. Code history teaches students to learn from their own mistakes.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3090672"/>
            <a:ext cx="26517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IN CLASS: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3310128"/>
            <a:ext cx="26517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week's project pushed to a personal GitHub repo. Peer code reviews done via Pull Requests (Week 3+).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BRIEF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14816" cy="731520"/>
          </a:xfrm>
          <a:prstGeom prst="rect">
            <a:avLst/>
          </a:prstGeom>
          <a:solidFill>
            <a:srgbClr val="1B6CA8"/>
          </a:solidFill>
        </p:spPr>
      </p:sp>
      <p:sp>
        <p:nvSpPr>
          <p:cNvPr id="5" name="Text 3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Project: 'SmartStore' — A Console-Based Shopping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881481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Learners build a menu-driven Java console application simulating an online store. The system must manage products, handle customer interactions, process purchases, and save/load data from a file.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2176272"/>
            <a:ext cx="4160520" cy="2651760"/>
          </a:xfrm>
          <a:prstGeom prst="rect">
            <a:avLst/>
          </a:prstGeom>
          <a:solidFill>
            <a:srgbClr val="F0F6FF"/>
          </a:solidFill>
        </p:spPr>
      </p:sp>
      <p:sp>
        <p:nvSpPr>
          <p:cNvPr id="8" name="Text 6"/>
          <p:cNvSpPr/>
          <p:nvPr/>
        </p:nvSpPr>
        <p:spPr>
          <a:xfrm>
            <a:off x="256032" y="2240280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Required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2578608"/>
            <a:ext cx="39776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least 3 classes (Product, Customer, Store)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Constructor overloading &amp; encapsulation (getters/setters)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ArrayList to manage product catalog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via Scanner with input validation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I/O: save &amp; load inventory from .txt file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Try-catch exception handling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2176272"/>
            <a:ext cx="4160520" cy="2651760"/>
          </a:xfrm>
          <a:prstGeom prst="rect">
            <a:avLst/>
          </a:prstGeom>
          <a:solidFill>
            <a:srgbClr val="F0F6FF"/>
          </a:solidFill>
        </p:spPr>
      </p:sp>
      <p:sp>
        <p:nvSpPr>
          <p:cNvPr id="11" name="Text 9"/>
          <p:cNvSpPr/>
          <p:nvPr/>
        </p:nvSpPr>
        <p:spPr>
          <a:xfrm>
            <a:off x="4910328" y="2240280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Evaluation Criteria (100 pts)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2615184"/>
            <a:ext cx="3931920" cy="384048"/>
          </a:xfrm>
          <a:prstGeom prst="rect">
            <a:avLst/>
          </a:prstGeom>
          <a:solidFill>
            <a:srgbClr val="DDEEFF"/>
          </a:solidFill>
        </p:spPr>
      </p:sp>
      <p:sp>
        <p:nvSpPr>
          <p:cNvPr id="13" name="Text 11"/>
          <p:cNvSpPr/>
          <p:nvPr/>
        </p:nvSpPr>
        <p:spPr>
          <a:xfrm>
            <a:off x="4956048" y="2651760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 Implementation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82128" y="265176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035808"/>
            <a:ext cx="3931920" cy="384048"/>
          </a:xfrm>
          <a:prstGeom prst="rect">
            <a:avLst/>
          </a:prstGeom>
          <a:solidFill>
            <a:srgbClr val="F0F6FF"/>
          </a:solidFill>
        </p:spPr>
      </p:sp>
      <p:sp>
        <p:nvSpPr>
          <p:cNvPr id="16" name="Text 14"/>
          <p:cNvSpPr/>
          <p:nvPr/>
        </p:nvSpPr>
        <p:spPr>
          <a:xfrm>
            <a:off x="4956048" y="3072384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Functionality (all features work)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82128" y="3072384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3456432"/>
            <a:ext cx="3931920" cy="384048"/>
          </a:xfrm>
          <a:prstGeom prst="rect">
            <a:avLst/>
          </a:prstGeom>
          <a:solidFill>
            <a:srgbClr val="DDEEFF"/>
          </a:solidFill>
        </p:spPr>
      </p:sp>
      <p:sp>
        <p:nvSpPr>
          <p:cNvPr id="19" name="Text 17"/>
          <p:cNvSpPr/>
          <p:nvPr/>
        </p:nvSpPr>
        <p:spPr>
          <a:xfrm>
            <a:off x="4956048" y="3493008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Quality &amp; Readability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82128" y="3493008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pts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877056"/>
            <a:ext cx="3931920" cy="384048"/>
          </a:xfrm>
          <a:prstGeom prst="rect">
            <a:avLst/>
          </a:prstGeom>
          <a:solidFill>
            <a:srgbClr val="F0F6FF"/>
          </a:solidFill>
        </p:spPr>
      </p:sp>
      <p:sp>
        <p:nvSpPr>
          <p:cNvPr id="22" name="Text 20"/>
          <p:cNvSpPr/>
          <p:nvPr/>
        </p:nvSpPr>
        <p:spPr>
          <a:xfrm>
            <a:off x="4956048" y="3913632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Exception Handling &amp;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82128" y="3913632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4297680"/>
            <a:ext cx="3931920" cy="384048"/>
          </a:xfrm>
          <a:prstGeom prst="rect">
            <a:avLst/>
          </a:prstGeom>
          <a:solidFill>
            <a:srgbClr val="DDEEFF"/>
          </a:solidFill>
        </p:spPr>
      </p:sp>
      <p:sp>
        <p:nvSpPr>
          <p:cNvPr id="25" name="Text 23"/>
          <p:cNvSpPr/>
          <p:nvPr/>
        </p:nvSpPr>
        <p:spPr>
          <a:xfrm>
            <a:off x="4956048" y="4334256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&amp; Explanation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82128" y="4334256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" y="4754880"/>
            <a:ext cx="8814816" cy="274320"/>
          </a:xfrm>
          <a:prstGeom prst="rect">
            <a:avLst/>
          </a:prstGeom>
          <a:solidFill>
            <a:srgbClr val="0D1B2A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STRATEGY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 Learn-by-Doing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lesson includes a live coding activity. Passive learning is minimized — students write code in 60% of class time.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27248" y="749808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36976" y="841248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🧩  Structured Scaffolding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36976" y="1188720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Curriculum progresses from syntax → OOP → data structures → integration. Each week builds explicitly on the last.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9904" y="749808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841248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Continuous Assessment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632" y="1188720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Kahoot! entry checks, in-class exercises, weekly Replit assignments, and a final capstone — no single high-stakes test.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4592" y="2560320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65176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Inclusive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2999232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Differentiated instruction for all levels. Peer learning, visual aids, and flexible pacing keep everyone progressing.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27248" y="2560320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36976" y="265176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💼  Industry Readiness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36976" y="2999232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from Week 1, code review practices, and a real portfolio project prepare learners for junior roles and bootcamps.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2560320"/>
            <a:ext cx="2743200" cy="1627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B6CA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2651760"/>
            <a:ext cx="2523744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🔁  Feedback Loops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2999232"/>
            <a:ext cx="2523744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tickets every session + weekly instructor retrospectives ensure responsive, learner-centred course adjustments.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Curriculum Module  |  ICT Training Academy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5126</Words>
  <Application>WPS Presentation</Application>
  <PresentationFormat>On-screen Show (16:9)</PresentationFormat>
  <Paragraphs>237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 Curriculum — 4-Week Module</dc:title>
  <dc:creator>PptxGenJS</dc:creator>
  <dc:subject>PptxGenJS Presentation</dc:subject>
  <cp:lastModifiedBy>DELL LATITUDE 7490</cp:lastModifiedBy>
  <cp:revision>3</cp:revision>
  <dcterms:created xsi:type="dcterms:W3CDTF">2026-04-18T03:16:00Z</dcterms:created>
  <dcterms:modified xsi:type="dcterms:W3CDTF">2026-04-19T23:13:39Z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D99F5ABD3116400AADEEF7BBCA099007_13</vt:lpwstr>
  </property>
  <property fmtid="{D5CDD505-2E9C-101B-9397-08002B2CF9AE}" pid="3" name="KSOProductBuildVer">
    <vt:lpwstr>1033-12.1.0.25242</vt:lpwstr>
  </property>
</Properties>
</file>